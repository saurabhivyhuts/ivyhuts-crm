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ivyhuts.com/property/londonist-drapery-place-london-240529908232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hyperlink" Target="https://ivyhuts.com/property/londonist-west-green-house-london-210804272478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hyperlink" Target="https://ivyhuts.com/property/deptford-london-250808035611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hyperlink" Target="https://ivyhuts.com/property/venue-studios-london-240123349428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hyperlink" Target="https://ivyhuts.com/property/press-house-london-251203307556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hyperlink" Target="https://ivyhuts.com/property/grand-felda-house-wembley-160830580518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hyperlink" Target="https://ivyhuts.com/property/iq-city-london-1811192172260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hyperlink" Target="https://ivyhuts.com/property/chapter-kings-cross-london-170729306833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hyperlink" Target="https://ivyhuts.com/property/therese-house-london-1906186914451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hyperlink" Target="https://ivyhuts.com/property/flora-building-london-200318294907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vyhuts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52807"/>
            <a:ext cx="714085" cy="1505192"/>
          </a:xfrm>
          <a:prstGeom prst="rect">
            <a:avLst/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0835" y="6137953"/>
            <a:ext cx="714085" cy="720046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1670" y="5818461"/>
            <a:ext cx="714085" cy="1039538"/>
          </a:xfrm>
          <a:prstGeom prst="rect">
            <a:avLst/>
          </a:prstGeom>
          <a:solidFill>
            <a:srgbClr val="B07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12506" y="5884678"/>
            <a:ext cx="714085" cy="973321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83341" y="5228796"/>
            <a:ext cx="714085" cy="1629203"/>
          </a:xfrm>
          <a:prstGeom prst="rect">
            <a:avLst/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4176" y="5305177"/>
            <a:ext cx="714085" cy="1552822"/>
          </a:xfrm>
          <a:prstGeom prst="rect">
            <a:avLst/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25012" y="5029820"/>
            <a:ext cx="714085" cy="1828179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47" y="6058817"/>
            <a:ext cx="714085" cy="799182"/>
          </a:xfrm>
          <a:prstGeom prst="rect">
            <a:avLst/>
          </a:prstGeom>
          <a:solidFill>
            <a:srgbClr val="B07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66682" y="5630751"/>
            <a:ext cx="714085" cy="1227248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37518" y="6131836"/>
            <a:ext cx="714085" cy="726163"/>
          </a:xfrm>
          <a:prstGeom prst="rect">
            <a:avLst/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08353" y="5890522"/>
            <a:ext cx="714085" cy="967477"/>
          </a:xfrm>
          <a:prstGeom prst="rect">
            <a:avLst/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79189" y="5524133"/>
            <a:ext cx="714085" cy="1333866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0024" y="6136004"/>
            <a:ext cx="714085" cy="721995"/>
          </a:xfrm>
          <a:prstGeom prst="rect">
            <a:avLst/>
          </a:prstGeom>
          <a:solidFill>
            <a:srgbClr val="B07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0859" y="5915824"/>
            <a:ext cx="714085" cy="942175"/>
          </a:xfrm>
          <a:prstGeom prst="rect">
            <a:avLst/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92040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4AF37"/>
                </a:solidFill>
                <a:latin typeface="Segoe UI"/>
              </a:rPr>
              <a:t>IVY</a:t>
            </a:r>
            <a:r>
              <a:rPr sz="2600" b="1" i="0">
                <a:solidFill>
                  <a:srgbClr val="FFFFFF"/>
                </a:solidFill>
                <a:latin typeface="Segoe UI"/>
              </a:rPr>
              <a:t>huts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13716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3A2442"/>
                </a:solidFill>
                <a:latin typeface="Segoe UI"/>
              </a:rPr>
              <a:t>PROPERTY PROPOSAL  ·  LONDON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847088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Student Accommodation Options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in London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1868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07898"/>
                </a:solidFill>
                <a:latin typeface="Segoe UI"/>
              </a:rPr>
              <a:t>Near </a:t>
            </a:r>
            <a:r>
              <a:rPr sz="1800" b="1" i="0">
                <a:solidFill>
                  <a:srgbClr val="F5D978"/>
                </a:solidFill>
                <a:latin typeface="Segoe UI"/>
              </a:rPr>
              <a:t>City St George's, University of London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30752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BUDGET: UP TO £200/WEEK OR £900/MONTH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279392"/>
            <a:ext cx="2743200" cy="0"/>
          </a:xfrm>
          <a:prstGeom prst="line">
            <a:avLst/>
          </a:prstGeom>
          <a:ln w="15875">
            <a:solidFill>
              <a:srgbClr val="B078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434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FFFFFF"/>
                </a:solidFill>
                <a:latin typeface="Segoe UI"/>
              </a:rPr>
              <a:t>Prepared for Annadurai 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4573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68E9B"/>
                </a:solidFill>
                <a:latin typeface="Segoe UI"/>
              </a:rPr>
              <a:t>10 curated residences  ·  Distance-mapped to Northampton Square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38404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4AF37"/>
                </a:solidFill>
                <a:latin typeface="Segoe UI"/>
              </a:rPr>
              <a:t>IVY</a:t>
            </a:r>
            <a:r>
              <a:rPr sz="1500" b="1" i="0">
                <a:solidFill>
                  <a:srgbClr val="3A2442"/>
                </a:solidFill>
                <a:latin typeface="Segoe UI"/>
              </a:rPr>
              <a:t>huts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LOCATION &amp; BUDGET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3A2442"/>
                </a:solidFill>
                <a:latin typeface="Segoe UI"/>
              </a:rPr>
              <a:t>Accommodation Near City St George's, University of London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26464"/>
            <a:ext cx="11094415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72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4E5E"/>
                </a:solidFill>
                <a:latin typeface="Segoe UI"/>
              </a:rPr>
              <a:t>Curated student accommodation options available through IVYHUTS.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" y="2084831"/>
            <a:ext cx="3429000" cy="1207008"/>
          </a:xfrm>
          <a:prstGeom prst="roundRect">
            <a:avLst>
              <a:gd name="adj" fmla="val 10000"/>
            </a:avLst>
          </a:prstGeom>
          <a:solidFill>
            <a:srgbClr val="3A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339" y="2231136"/>
            <a:ext cx="291693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D978"/>
                </a:solidFill>
                <a:latin typeface="Segoe UI"/>
              </a:rPr>
              <a:t>CITY ST GEORGE'S,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D978"/>
                </a:solidFill>
                <a:latin typeface="Segoe UI"/>
              </a:rPr>
              <a:t>UNIVERSITY OF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339" y="2834639"/>
            <a:ext cx="291693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Segoe UI"/>
              </a:rPr>
              <a:t>Northampton Sq, Islington, EC1V 0HN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1307" y="2084831"/>
            <a:ext cx="320040" cy="12070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D4AF37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347" y="2084831"/>
            <a:ext cx="342900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7379" y="2231136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A2442"/>
                </a:solidFill>
                <a:latin typeface="Segoe UI"/>
              </a:rPr>
              <a:t>10 NEARBY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7379" y="2587752"/>
            <a:ext cx="291693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0.49 km – 12.94 km from campus, straight-line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347" y="2084831"/>
            <a:ext cx="320040" cy="12070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D4AF37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387" y="2084831"/>
            <a:ext cx="3429000" cy="1207008"/>
          </a:xfrm>
          <a:prstGeom prst="roundRect">
            <a:avLst>
              <a:gd name="adj" fmla="val 1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6419" y="2231136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 BUDGET-CONSCIOUS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419" y="2587752"/>
            <a:ext cx="291693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E8F5EE"/>
                </a:solidFill>
                <a:latin typeface="Segoe UI"/>
              </a:rPr>
              <a:t>At or under £200/week (or £900/month)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11094415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3A6B"/>
                </a:solidFill>
                <a:latin typeface="Segoe UI"/>
              </a:rPr>
              <a:t>STUDENT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8736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A2442"/>
                </a:solidFill>
                <a:latin typeface="Segoe UI"/>
              </a:rPr>
              <a:t>£200</a:t>
            </a:r>
            <a:r>
              <a:rPr sz="1300" b="0" i="0">
                <a:solidFill>
                  <a:srgbClr val="6B4E5E"/>
                </a:solidFill>
                <a:latin typeface="Segoe UI"/>
              </a:rPr>
              <a:t> / week   or   </a:t>
            </a:r>
            <a:r>
              <a:rPr sz="2600" b="1" i="0">
                <a:solidFill>
                  <a:srgbClr val="3A2442"/>
                </a:solidFill>
                <a:latin typeface="Segoe UI"/>
              </a:rPr>
              <a:t>£900</a:t>
            </a:r>
            <a:r>
              <a:rPr sz="1300" b="0" i="0">
                <a:solidFill>
                  <a:srgbClr val="6B4E5E"/>
                </a:solidFill>
                <a:latin typeface="Segoe UI"/>
              </a:rPr>
              <a:t> / month  (maximum)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94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4E5E"/>
                </a:solidFill>
                <a:latin typeface="Segoe UI"/>
              </a:rPr>
              <a:t>6 properties in this deck fall within budget. Because the closest options to campus all exceed £200/week, 4 nearby alternatives are also shown for comparison, each clearly marked “Over Budget” with its real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A68E9B"/>
                </a:solidFill>
                <a:latin typeface="Segoe UI"/>
              </a:rPr>
              <a:t>Distances are straight-line (great-circle), calculated from each property's real coordinates to the university's Northampton Square campus.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9525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68E9B"/>
                </a:solidFill>
                <a:latin typeface="Segoe UI"/>
              </a:rPr>
              <a:t>IVYHUTS  ·  Student Accommodation Abroad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12745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68E9B"/>
                </a:solidFill>
                <a:latin typeface="Segoe U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01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482596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2.85 KM · 34 MIN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£200/week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LST Drapery Place,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2.85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🚶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Approx. 34 min walk (estimated, ~5 km/h)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Non Ensuite, 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£200 - £540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CCTV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Spaces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65 Leman St, London E1 8EU,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1093525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587752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6.57 KM · BY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£199/week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LST West Green House,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6.57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🚇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Beyond comfortable walking distance — public transport recommended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£199 - £385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24hr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WiFi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Electricity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151 W Green Rd, London N15 5EA,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187938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587752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7.00 KM · BY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£188/week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YourTRIBE Deptford,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7.00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🚇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Beyond comfortable walking distance — public transport recommended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Ensuite, Non 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£188 - £516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Cinema/movie nights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 Facility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Social programme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Super-Fast Wi-Fi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82-84 Childers St, London SE8 5FS,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2061969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587752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7.42 KM · BY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£199/week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Venue Studios,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7.42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🚇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Beyond comfortable walking distance — public transport recommended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£199 - £450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Wifi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Bike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333 New Cross Rd, London SE14 6AT,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943993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692908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12.53 KM · BY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£199/week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Press House,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12.53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🚇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Beyond comfortable walking distance — public transport recommended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Ensuite, Studio,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£199 - £470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Wifi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81-88 Beresford St, London SE18 6BG,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2474170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692908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12.94 KM · BY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247948" cy="292608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✓ WITHIN BUDGET  ·  £180/week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Grand Felda House,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12.94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🚇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Beyond comfortable walking distance — public transport recommended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Non Ensuite, Ensuite, 3B, 2B,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£180 - £404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Free On-site 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24/7 CCTV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Cinema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Large Study 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Grand Felda House, Empire Way, Wembley Park, Wembley HA9 0EF,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133427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0.49 KM · 6 MIN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050438" cy="292608"/>
          </a:xfrm>
          <a:prstGeom prst="roundRect">
            <a:avLst>
              <a:gd name="adj" fmla="val 50000"/>
            </a:avLst>
          </a:prstGeom>
          <a:solidFill>
            <a:srgbClr val="B0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! OVER BUDGET  ·  £381/week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iQ City,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0.49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🚶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Approx. 6 min walk (estimated, ~5 km/h)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2B, Ensuite, Non Ensuite, 1B, Studio,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£381 - £765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Onsite 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24/7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CCTV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Cinema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11 Bastwick St, London EC1V 3AQ,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143256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482596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1.08 KM · 13 MIN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050438" cy="292608"/>
          </a:xfrm>
          <a:prstGeom prst="roundRect">
            <a:avLst>
              <a:gd name="adj" fmla="val 50000"/>
            </a:avLst>
          </a:prstGeom>
          <a:solidFill>
            <a:srgbClr val="B0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! OVER BUDGET  ·  £379/week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Chapter Kings Cross,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1.08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🚶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Approx. 13 min walk (estimated, ~5 km/h)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Ensuite, Non 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£379 - £780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On-Site 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Cinema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Spaces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Onsite Laundry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200 Pentonville Rd, London N1 9JP,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136672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0.74 KM · 9 MIN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050438" cy="292608"/>
          </a:xfrm>
          <a:prstGeom prst="roundRect">
            <a:avLst>
              <a:gd name="adj" fmla="val 50000"/>
            </a:avLst>
          </a:prstGeom>
          <a:solidFill>
            <a:srgbClr val="B0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! OVER BUDGET  ·  £445/week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Yugo Therese House,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0.74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🚶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Approx. 9 min walk (estimated, ~5 km/h)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£445 - £581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24 Hours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CCTV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Laundry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29-30 Glasshouse Yard, Barbican, London EC1A 4JW,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145522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8968" y="0"/>
            <a:ext cx="274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B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92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5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92608"/>
            <a:ext cx="2482596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50" b="1">
                <a:solidFill>
                  <a:srgbClr val="3A2442"/>
                </a:solidFill>
                <a:latin typeface="Segoe UI"/>
              </a:rPr>
              <a:t>1.93 KM · 23 MIN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640080"/>
            <a:ext cx="3050438" cy="292608"/>
          </a:xfrm>
          <a:prstGeom prst="roundRect">
            <a:avLst>
              <a:gd name="adj" fmla="val 50000"/>
            </a:avLst>
          </a:prstGeom>
          <a:solidFill>
            <a:srgbClr val="B0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! OVER BUDGET  ·  £299/week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42415"/>
            <a:ext cx="586404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A2442"/>
                </a:solidFill>
                <a:latin typeface="Segoe UI"/>
              </a:rPr>
              <a:t>Flora Building,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📍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1.93 km straight-line from City St George's, University of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83664"/>
            <a:ext cx="58640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E3A6B"/>
                </a:solidFill>
                <a:latin typeface="Segoe UI"/>
              </a:rPr>
              <a:t>🚶 </a:t>
            </a:r>
            <a:r>
              <a:rPr sz="1050" b="0" i="0">
                <a:solidFill>
                  <a:srgbClr val="6B4E5E"/>
                </a:solidFill>
                <a:latin typeface="Segoe UI"/>
              </a:rPr>
              <a:t>Approx. 23 min walk (estimated, ~5 km/h)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12848"/>
            <a:ext cx="5864047" cy="0"/>
          </a:xfrm>
          <a:prstGeom prst="line">
            <a:avLst/>
          </a:prstGeom>
          <a:ln w="12700">
            <a:solidFill>
              <a:srgbClr val="EDD5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23408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40864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Studio, Non Ensuite, Student Accommodation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48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Price: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4892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£299 - £589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68E9B"/>
                </a:solidFill>
                <a:latin typeface="Segoe UI"/>
              </a:rPr>
              <a:t>Availability: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4858207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A2442"/>
                </a:solidFill>
                <a:latin typeface="Segoe UI"/>
              </a:rPr>
              <a:t>Available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4388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24 Hours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7063" y="3323844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CCTV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7063" y="3543300"/>
            <a:ext cx="28405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950" b="0" i="0">
                <a:solidFill>
                  <a:srgbClr val="6B4E5E"/>
                </a:solidFill>
                <a:latin typeface="Segoe UI"/>
              </a:rPr>
              <a:t>Study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484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E3A6B"/>
                </a:solidFill>
                <a:latin typeface="Segoe UI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73652"/>
            <a:ext cx="58640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6B4E5E"/>
                </a:solidFill>
                <a:latin typeface="Segoe UI"/>
              </a:rPr>
              <a:t>11-13 Long St, London E2 8HJ, 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797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Amber Property ID: 149580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49140"/>
            <a:ext cx="5864047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68E9B"/>
                </a:solidFill>
                <a:latin typeface="Segoe UI"/>
              </a:rPr>
              <a:t>AS SEEN ON IVYHUTS.COM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5312" y="4704588"/>
            <a:ext cx="2214617" cy="1335024"/>
          </a:xfrm>
          <a:prstGeom prst="rect">
            <a:avLst/>
          </a:prstGeom>
          <a:noFill/>
          <a:ln w="12700">
            <a:solidFill>
              <a:srgbClr val="ED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otcrop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2876"/>
            <a:ext cx="2178041" cy="1298448"/>
          </a:xfrm>
          <a:prstGeom prst="rect">
            <a:avLst/>
          </a:prstGeom>
        </p:spPr>
      </p:pic>
      <p:sp>
        <p:nvSpPr>
          <p:cNvPr id="29" name="Rounded Rectangle 28">
            <a:hlinkClick r:id="rId4"/>
          </p:cNvPr>
          <p:cNvSpPr/>
          <p:nvPr/>
        </p:nvSpPr>
        <p:spPr>
          <a:xfrm>
            <a:off x="5943600" y="6167628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3A2442"/>
                </a:solidFill>
                <a:latin typeface="Segoe UI"/>
              </a:rPr>
              <a:t>VIEW PROPERTY ON IVYHUTS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656832"/>
            <a:ext cx="58640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68E9B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4AF37"/>
                </a:solidFill>
                <a:latin typeface="Segoe UI"/>
              </a:rPr>
              <a:t>IVY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huts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Why IVYHUTS?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19072"/>
            <a:ext cx="2743200" cy="0"/>
          </a:xfrm>
          <a:prstGeom prst="line">
            <a:avLst/>
          </a:prstGeom>
          <a:ln w="15875">
            <a:solidFill>
              <a:srgbClr val="D4AF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20116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442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99339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D978"/>
                </a:solidFill>
                <a:latin typeface="Segoe UI"/>
              </a:rPr>
              <a:t>Curated Student Accommodation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67712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8C4DE"/>
                </a:solidFill>
                <a:latin typeface="Segoe UI"/>
              </a:rPr>
              <a:t>Real, verified listings matched to City St George's, University of London.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442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651760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D978"/>
                </a:solidFill>
                <a:latin typeface="Segoe UI"/>
              </a:rPr>
              <a:t>Verified Property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26080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8C4DE"/>
                </a:solidFill>
                <a:latin typeface="Segoe UI"/>
              </a:rPr>
              <a:t>Pricing, amenities and availability sourced directly from property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28415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442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310127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D978"/>
                </a:solidFill>
                <a:latin typeface="Segoe UI"/>
              </a:rPr>
              <a:t>Budget-Conscious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5844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8C4DE"/>
                </a:solidFill>
                <a:latin typeface="Segoe UI"/>
              </a:rPr>
              <a:t>Every option checked against your £200/week or £900/month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86783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442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968496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D978"/>
                </a:solidFill>
                <a:latin typeface="Segoe UI"/>
              </a:rPr>
              <a:t>Location-Focused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242816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8C4DE"/>
                </a:solidFill>
                <a:latin typeface="Segoe UI"/>
              </a:rPr>
              <a:t>Every option distance-mapped to your exact campus, not just the city centre.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4515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A2442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626864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D978"/>
                </a:solidFill>
                <a:latin typeface="Segoe UI"/>
              </a:rPr>
              <a:t>Direct Property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01183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8C4DE"/>
                </a:solidFill>
                <a:latin typeface="Segoe UI"/>
              </a:rPr>
              <a:t>One click through to the full listing, gallery and booking flow on IVYHUTS.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58383"/>
            <a:ext cx="10607040" cy="566928"/>
          </a:xfrm>
          <a:prstGeom prst="roundRect">
            <a:avLst>
              <a:gd name="adj" fmla="val 18000"/>
            </a:avLst>
          </a:prstGeom>
          <a:solidFill>
            <a:srgbClr val="4A2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58383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5D978"/>
                </a:solidFill>
                <a:latin typeface="Segoe UI"/>
              </a:rPr>
              <a:t>STUDENT BUDGET CONSIDERED: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Up to £200/week or £900/month</a:t>
            </a:r>
          </a:p>
        </p:txBody>
      </p:sp>
      <p:sp>
        <p:nvSpPr>
          <p:cNvPr id="22" name="Rounded Rectangle 21">
            <a:hlinkClick r:id="rId2"/>
          </p:cNvPr>
          <p:cNvSpPr/>
          <p:nvPr/>
        </p:nvSpPr>
        <p:spPr>
          <a:xfrm>
            <a:off x="777240" y="6126479"/>
            <a:ext cx="4754880" cy="5029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A2442"/>
                </a:solidFill>
                <a:latin typeface="Segoe UI"/>
              </a:rPr>
              <a:t>EXPLORE MORE PROPERTIES ON IVYHUTS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6227064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www.ivyhuts.com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